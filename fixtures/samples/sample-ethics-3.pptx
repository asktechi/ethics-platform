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  <p:sldId id="258" r:id="rId3"/>
    <p:sldId id="259" r:id="rId4"/>
    <p:sldId id="260" r:id="rId5"/>
    <p:sldId id="261" r:id="rId6"/>
  </p:sldIdLst>
  <p:sldSz cx="9144000" cy="6858000" type="screen4x3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/>
        <p:txBody>
          <a:bodyPr/>
          <a:lstStyle/>
          <a:p>
            <a:r>
              <a:t>Standard I Overview</a:t>
            </a:r>
          </a:p>
        </p:txBody>
      </p:sp>
      <p:sp>
        <p:nvSpPr>
          <p:cNvPr id="3" name="Body"/>
          <p:cNvSpPr/>
          <p:nvPr>
            <p:ph type="body"/>
          </p:nvPr>
        </p:nvSpPr>
        <p:spPr/>
        <p:txBody>
          <a:bodyPr/>
          <a:lstStyle/>
          <a:p>
            <a:r>
              <a:t>Professionalism is the foundation of the CFA Institute Code of Ethics.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/>
        <p:txBody>
          <a:bodyPr/>
          <a:lstStyle/>
          <a:p>
            <a:r>
              <a:t>Knowledge of the Law</a:t>
            </a:r>
          </a:p>
        </p:txBody>
      </p:sp>
      <p:sp>
        <p:nvSpPr>
          <p:cNvPr id="3" name="Body"/>
          <p:cNvSpPr/>
          <p:nvPr>
            <p:ph type="body"/>
          </p:nvPr>
        </p:nvSpPr>
        <p:spPr/>
        <p:txBody>
          <a:bodyPr/>
          <a:lstStyle/>
          <a:p>
            <a:r>
              <a:t>Comply with the stricter of applicable law and the Code and Standards.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/>
        <p:txBody>
          <a:bodyPr/>
          <a:lstStyle/>
          <a:p>
            <a:r>
              <a:t>Independence</a:t>
            </a:r>
          </a:p>
        </p:txBody>
      </p:sp>
      <p:sp>
        <p:nvSpPr>
          <p:cNvPr id="3" name="Body"/>
          <p:cNvSpPr/>
          <p:nvPr>
            <p:ph type="body"/>
          </p:nvPr>
        </p:nvSpPr>
        <p:spPr/>
        <p:txBody>
          <a:bodyPr/>
          <a:lstStyle/>
          <a:p>
            <a:r>
              <a:t>Protect independence and objectivity in all professional activities.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/>
        <p:txBody>
          <a:bodyPr/>
          <a:lstStyle/>
          <a:p>
            <a:r>
              <a:t>Misrepresentation</a:t>
            </a:r>
          </a:p>
        </p:txBody>
      </p:sp>
      <p:sp>
        <p:nvSpPr>
          <p:cNvPr id="3" name="Body"/>
          <p:cNvSpPr/>
          <p:nvPr>
            <p:ph type="body"/>
          </p:nvPr>
        </p:nvSpPr>
        <p:spPr/>
        <p:txBody>
          <a:bodyPr/>
          <a:lstStyle/>
          <a:p>
            <a:r>
              <a:t>Never knowingly misrepresent analysis, credentials, or performance.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/>
        <p:txBody>
          <a:bodyPr/>
          <a:lstStyle/>
          <a:p>
            <a:r>
              <a:t>Misconduct</a:t>
            </a:r>
          </a:p>
        </p:txBody>
      </p:sp>
      <p:sp>
        <p:nvSpPr>
          <p:cNvPr id="3" name="Body"/>
          <p:cNvSpPr/>
          <p:nvPr>
            <p:ph type="body"/>
          </p:nvPr>
        </p:nvSpPr>
        <p:spPr/>
        <p:txBody>
          <a:bodyPr/>
          <a:lstStyle/>
          <a:p>
            <a:r>
              <a:t>Dishonesty, fraud, and deceit are incompatible with membership.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/>
        <p:txBody>
          <a:bodyPr/>
          <a:lstStyle/>
          <a:p>
            <a:r>
              <a:t>Classroom cue</a:t>
            </a:r>
          </a:p>
        </p:txBody>
      </p:sp>
      <p:sp>
        <p:nvSpPr>
          <p:cNvPr id="3" name="Body"/>
          <p:cNvSpPr/>
          <p:nvPr>
            <p:ph type="body"/>
          </p:nvPr>
        </p:nvSpPr>
        <p:spPr/>
        <p:txBody>
          <a:bodyPr/>
          <a:lstStyle/>
          <a:p>
            <a:r>
              <a:t>Ask for one example of a gift that would compromise independence.</a:t>
            </a:r>
          </a:p>
        </p:txBody>
      </p:sp>
    </p:spTree>
  </p:cSld>
</p:sld>
</file>